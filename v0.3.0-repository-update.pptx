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7225" y="1562807"/>
            <a:ext cx="5632121" cy="1607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spc="2" kern="0" dirty="0">
                <a:solidFill>
                  <a:srgbClr val="58758A"/>
                </a:solidFill>
                <a:latin typeface="Noto Sans JP Bold" pitchFamily="34" charset="0"/>
                <a:ea typeface="Noto Sans JP Bold" pitchFamily="34" charset="-122"/>
                <a:cs typeface="Noto Sans JP Bold" pitchFamily="34" charset="-120"/>
              </a:rPr>
              <a:t>PORTAL &amp; PROFILE UPDATE REPORT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657225" y="1909279"/>
            <a:ext cx="5632121" cy="11463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3500" b="1" spc="-2" kern="0" dirty="0">
                <a:solidFill>
                  <a:srgbClr val="2F3C4B"/>
                </a:solidFill>
                <a:latin typeface="Noto Sans JP ExtraBold" pitchFamily="34" charset="0"/>
                <a:ea typeface="Noto Sans JP ExtraBold" pitchFamily="34" charset="-122"/>
                <a:cs typeface="Noto Sans JP ExtraBold" pitchFamily="34" charset="-120"/>
              </a:rPr>
              <a:t>v0.3.0</a:t>
            </a:r>
            <a:r>
              <a:rPr lang="en-US" sz="3500" b="1" spc="-2" kern="0" dirty="0">
                <a:solidFill>
                  <a:srgbClr val="2F3C4B"/>
                </a:solidFill>
                <a:latin typeface="Noto Sans JP ExtraBold" pitchFamily="34" charset="0"/>
                <a:ea typeface="Noto Sans JP ExtraBold" pitchFamily="34" charset="-122"/>
                <a:cs typeface="Noto Sans JP ExtraBold" pitchFamily="34" charset="-120"/>
              </a:rPr>
              <a:t>
</a:t>
            </a:r>
            <a:r>
              <a:rPr lang="en-US" sz="3500" b="1" spc="-2" kern="0" dirty="0">
                <a:solidFill>
                  <a:srgbClr val="2F3C4B"/>
                </a:solidFill>
                <a:latin typeface="Noto Sans JP ExtraBold" pitchFamily="34" charset="0"/>
                <a:ea typeface="Noto Sans JP ExtraBold" pitchFamily="34" charset="-122"/>
                <a:cs typeface="Noto Sans JP ExtraBold" pitchFamily="34" charset="-120"/>
              </a:rPr>
              <a:t>プロフィール刷新</a:t>
            </a:r>
            <a:endParaRPr lang="en-US" sz="3500" dirty="0"/>
          </a:p>
        </p:txBody>
      </p:sp>
      <p:sp>
        <p:nvSpPr>
          <p:cNvPr id="5" name="Text 2"/>
          <p:cNvSpPr/>
          <p:nvPr/>
        </p:nvSpPr>
        <p:spPr>
          <a:xfrm>
            <a:off x="657225" y="3241365"/>
            <a:ext cx="48577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50627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Neo-Brutalism 適用と統計カードの導入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57225" y="4055752"/>
            <a:ext cx="5632121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spc="1" kern="0" dirty="0">
                <a:solidFill>
                  <a:srgbClr val="6A7E8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watanabe3tipapa · 2026-09-16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6832271" y="1571792"/>
            <a:ext cx="1868760" cy="1999859"/>
          </a:xfrm>
          <a:prstGeom prst="rect">
            <a:avLst/>
          </a:prstGeom>
          <a:solidFill>
            <a:srgbClr val="FFFFFF"/>
          </a:solidFill>
          <a:ln w="18288">
            <a:solidFill>
              <a:srgbClr val="9BAEC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032296" y="1800392"/>
            <a:ext cx="1468710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100" b="1" spc="-1" kern="0" dirty="0">
                <a:solidFill>
                  <a:srgbClr val="285F82"/>
                </a:solidFill>
                <a:latin typeface="Noto Sans JP ExtraBold" pitchFamily="34" charset="0"/>
                <a:ea typeface="Noto Sans JP ExtraBold" pitchFamily="34" charset="-122"/>
                <a:cs typeface="Noto Sans JP ExtraBold" pitchFamily="34" charset="-120"/>
              </a:rPr>
              <a:t>v0.3.0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7032296" y="2446902"/>
            <a:ext cx="1468710" cy="110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b="1" spc="1" kern="0" dirty="0">
                <a:solidFill>
                  <a:srgbClr val="6A7E8D"/>
                </a:solidFill>
                <a:latin typeface="Noto Sans JP Bold" pitchFamily="34" charset="0"/>
                <a:ea typeface="Noto Sans JP Bold" pitchFamily="34" charset="-122"/>
                <a:cs typeface="Noto Sans JP Bold" pitchFamily="34" charset="-120"/>
              </a:rPr>
              <a:t>TARGET REPOSITORIES</a:t>
            </a:r>
            <a:endParaRPr lang="en-US" sz="650" dirty="0"/>
          </a:p>
        </p:txBody>
      </p:sp>
      <p:sp>
        <p:nvSpPr>
          <p:cNvPr id="10" name="Text 7"/>
          <p:cNvSpPr/>
          <p:nvPr/>
        </p:nvSpPr>
        <p:spPr>
          <a:xfrm>
            <a:off x="7032296" y="2643355"/>
            <a:ext cx="1468710" cy="1760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50" b="1" dirty="0">
                <a:solidFill>
                  <a:srgbClr val="2F3C4B"/>
                </a:solidFill>
                <a:latin typeface="Noto Sans JP Bold" pitchFamily="34" charset="0"/>
                <a:ea typeface="Noto Sans JP Bold" pitchFamily="34" charset="-122"/>
                <a:cs typeface="Noto Sans JP Bold" pitchFamily="34" charset="-120"/>
              </a:rPr>
              <a:t>watanabe3tipapa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7032296" y="2905162"/>
            <a:ext cx="1468710" cy="1760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50" b="1" dirty="0">
                <a:solidFill>
                  <a:srgbClr val="2F3C4B"/>
                </a:solidFill>
                <a:latin typeface="Noto Sans JP Bold" pitchFamily="34" charset="0"/>
                <a:ea typeface="Noto Sans JP Bold" pitchFamily="34" charset="-122"/>
                <a:cs typeface="Noto Sans JP Bold" pitchFamily="34" charset="-120"/>
              </a:rPr>
              <a:t>watanabe3tipapa.github.io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7032296" y="3166969"/>
            <a:ext cx="1468710" cy="1760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50" b="1" dirty="0">
                <a:solidFill>
                  <a:srgbClr val="2F3C4B"/>
                </a:solidFill>
                <a:latin typeface="Noto Sans JP Bold" pitchFamily="34" charset="0"/>
                <a:ea typeface="Noto Sans JP Bold" pitchFamily="34" charset="-122"/>
                <a:cs typeface="Noto Sans JP Bold" pitchFamily="34" charset="-120"/>
              </a:rPr>
              <a:t>next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4363" y="514350"/>
            <a:ext cx="7915275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spc="1" kern="0" dirty="0">
                <a:solidFill>
                  <a:srgbClr val="58758A"/>
                </a:solidFill>
                <a:latin typeface="Noto Sans JP Bold" pitchFamily="34" charset="0"/>
                <a:ea typeface="Noto Sans JP Bold" pitchFamily="34" charset="-122"/>
                <a:cs typeface="Noto Sans JP Bold" pitchFamily="34" charset="-120"/>
              </a:rPr>
              <a:t>01 / OVERVIEW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614363" y="775097"/>
            <a:ext cx="7915275" cy="42717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50" b="1" spc="-1" kern="0" dirty="0">
                <a:solidFill>
                  <a:srgbClr val="2F3C4B"/>
                </a:solidFill>
                <a:latin typeface="Noto Sans JP Bold" pitchFamily="34" charset="0"/>
                <a:ea typeface="Noto Sans JP Bold" pitchFamily="34" charset="-122"/>
                <a:cs typeface="Noto Sans JP Bold" pitchFamily="34" charset="-120"/>
              </a:rPr>
              <a:t>プロフィールとポータルを、視線を揃えて刷新</a:t>
            </a:r>
            <a:endParaRPr lang="en-US" sz="2350" dirty="0"/>
          </a:p>
        </p:txBody>
      </p:sp>
      <p:sp>
        <p:nvSpPr>
          <p:cNvPr id="5" name="Text 2"/>
          <p:cNvSpPr/>
          <p:nvPr/>
        </p:nvSpPr>
        <p:spPr>
          <a:xfrm>
            <a:off x="614363" y="1345146"/>
            <a:ext cx="7915275" cy="2514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50627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GitHub プロフィールと個人ポータルに Neo-Brutalism を適用し、統計カードを定期生成する仕組みへ統一しました。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614363" y="1982335"/>
            <a:ext cx="2486025" cy="1966540"/>
          </a:xfrm>
          <a:prstGeom prst="rect">
            <a:avLst/>
          </a:prstGeom>
          <a:solidFill>
            <a:srgbClr val="FFFFFF"/>
          </a:solidFill>
          <a:ln w="18288">
            <a:solidFill>
              <a:srgbClr val="9BAEC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42963" y="2239510"/>
            <a:ext cx="2028825" cy="2042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285F82"/>
                </a:solidFill>
                <a:latin typeface="Noto Sans JP ExtraBold" pitchFamily="34" charset="0"/>
                <a:ea typeface="Noto Sans JP ExtraBold" pitchFamily="34" charset="-122"/>
                <a:cs typeface="Noto Sans JP ExtraBold" pitchFamily="34" charset="-120"/>
              </a:rPr>
              <a:t>watanabe3tipapa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42963" y="2715239"/>
            <a:ext cx="2028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F3C4B"/>
                </a:solidFill>
                <a:latin typeface="Noto Sans JP Bold" pitchFamily="34" charset="0"/>
                <a:ea typeface="Noto Sans JP Bold" pitchFamily="34" charset="-122"/>
                <a:cs typeface="Noto Sans JP Bold" pitchFamily="34" charset="-120"/>
              </a:rPr>
              <a:t>入口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42963" y="3058139"/>
            <a:ext cx="2028825" cy="400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900" dirty="0">
                <a:solidFill>
                  <a:srgbClr val="50627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個人の活動、制作物、連絡先を案内する個人ポータル。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3328988" y="1982335"/>
            <a:ext cx="2486025" cy="1966540"/>
          </a:xfrm>
          <a:prstGeom prst="rect">
            <a:avLst/>
          </a:prstGeom>
          <a:solidFill>
            <a:srgbClr val="FFFFFF"/>
          </a:solidFill>
          <a:ln w="18288">
            <a:solidFill>
              <a:srgbClr val="9BAEC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557588" y="2239510"/>
            <a:ext cx="2028825" cy="4085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285F82"/>
                </a:solidFill>
                <a:latin typeface="Noto Sans JP ExtraBold" pitchFamily="34" charset="0"/>
                <a:ea typeface="Noto Sans JP ExtraBold" pitchFamily="34" charset="-122"/>
                <a:cs typeface="Noto Sans JP ExtraBold" pitchFamily="34" charset="-120"/>
              </a:rPr>
              <a:t>watanabe3tipapa</a:t>
            </a:r>
            <a:r>
              <a:rPr lang="en-US" sz="1100" b="1" dirty="0">
                <a:solidFill>
                  <a:srgbClr val="285F82"/>
                </a:solidFill>
                <a:latin typeface="Noto Sans JP ExtraBold" pitchFamily="34" charset="0"/>
                <a:ea typeface="Noto Sans JP ExtraBold" pitchFamily="34" charset="-122"/>
                <a:cs typeface="Noto Sans JP ExtraBold" pitchFamily="34" charset="-120"/>
              </a:rPr>
              <a:t>
</a:t>
            </a:r>
            <a:r>
              <a:rPr lang="en-US" sz="1100" b="1" dirty="0">
                <a:solidFill>
                  <a:srgbClr val="285F82"/>
                </a:solidFill>
                <a:latin typeface="Noto Sans JP ExtraBold" pitchFamily="34" charset="0"/>
                <a:ea typeface="Noto Sans JP ExtraBold" pitchFamily="34" charset="-122"/>
                <a:cs typeface="Noto Sans JP ExtraBold" pitchFamily="34" charset="-120"/>
              </a:rPr>
              <a:t>.github.io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3557588" y="2919506"/>
            <a:ext cx="2028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F3C4B"/>
                </a:solidFill>
                <a:latin typeface="Noto Sans JP Bold" pitchFamily="34" charset="0"/>
                <a:ea typeface="Noto Sans JP Bold" pitchFamily="34" charset="-122"/>
                <a:cs typeface="Noto Sans JP Bold" pitchFamily="34" charset="-120"/>
              </a:rPr>
              <a:t>正本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3557588" y="3262406"/>
            <a:ext cx="2028825" cy="400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900" dirty="0">
                <a:solidFill>
                  <a:srgbClr val="50627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現在公開している資産と更新状況を自動集約する一覧サイト。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6043613" y="1982335"/>
            <a:ext cx="2486025" cy="1937965"/>
          </a:xfrm>
          <a:prstGeom prst="rect">
            <a:avLst/>
          </a:prstGeom>
          <a:solidFill>
            <a:srgbClr val="FFFFFF"/>
          </a:solidFill>
          <a:ln w="18288">
            <a:solidFill>
              <a:srgbClr val="9BAEC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72213" y="2239510"/>
            <a:ext cx="2028825" cy="2042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285F82"/>
                </a:solidFill>
                <a:latin typeface="Noto Sans JP ExtraBold" pitchFamily="34" charset="0"/>
                <a:ea typeface="Noto Sans JP ExtraBold" pitchFamily="34" charset="-122"/>
                <a:cs typeface="Noto Sans JP ExtraBold" pitchFamily="34" charset="-120"/>
              </a:rPr>
              <a:t>next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272213" y="2715239"/>
            <a:ext cx="2028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F3C4B"/>
                </a:solidFill>
                <a:latin typeface="Noto Sans JP Bold" pitchFamily="34" charset="0"/>
                <a:ea typeface="Noto Sans JP Bold" pitchFamily="34" charset="-122"/>
                <a:cs typeface="Noto Sans JP Bold" pitchFamily="34" charset="-120"/>
              </a:rPr>
              <a:t>運用ノート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272213" y="3058139"/>
            <a:ext cx="2028825" cy="400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900" dirty="0">
                <a:solidFill>
                  <a:srgbClr val="50627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設計意図、構築、公開経路、運用の判断を記録する解説サイト。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614363" y="4521994"/>
            <a:ext cx="7915275" cy="492919"/>
          </a:xfrm>
          <a:prstGeom prst="rect">
            <a:avLst/>
          </a:prstGeom>
          <a:noFill/>
          <a:ln/>
        </p:spPr>
        <p:txBody>
          <a:bodyPr wrap="square" lIns="0" tIns="0" rIns="0" bIns="408178" rtlCol="0" anchor="t">
            <a:sp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A7E8D"/>
                </a:solidFill>
                <a:latin typeface="Noto Sans JP Bold" pitchFamily="34" charset="0"/>
                <a:ea typeface="Noto Sans JP Bold" pitchFamily="34" charset="-122"/>
                <a:cs typeface="Noto Sans JP Bold" pitchFamily="34" charset="-120"/>
              </a:rPr>
              <a:t>v0.3.0 — Profile stats &amp; neo-brutalism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4363" y="514350"/>
            <a:ext cx="7915275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spc="1" kern="0" dirty="0">
                <a:solidFill>
                  <a:srgbClr val="58758A"/>
                </a:solidFill>
                <a:latin typeface="Noto Sans JP Bold" pitchFamily="34" charset="0"/>
                <a:ea typeface="Noto Sans JP Bold" pitchFamily="34" charset="-122"/>
                <a:cs typeface="Noto Sans JP Bold" pitchFamily="34" charset="-120"/>
              </a:rPr>
              <a:t>02 / PERSONAL PORTAL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614363" y="775097"/>
            <a:ext cx="7915275" cy="42717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50" b="1" spc="-1" kern="0" dirty="0">
                <a:solidFill>
                  <a:srgbClr val="2F3C4B"/>
                </a:solidFill>
                <a:latin typeface="Noto Sans JP Bold" pitchFamily="34" charset="0"/>
                <a:ea typeface="Noto Sans JP Bold" pitchFamily="34" charset="-122"/>
                <a:cs typeface="Noto Sans JP Bold" pitchFamily="34" charset="-120"/>
              </a:rPr>
              <a:t>プロフィール: 統計カードと Neo-Brutalism 導入</a:t>
            </a:r>
            <a:endParaRPr lang="en-US" sz="2350" dirty="0"/>
          </a:p>
        </p:txBody>
      </p:sp>
      <p:sp>
        <p:nvSpPr>
          <p:cNvPr id="5" name="Text 2"/>
          <p:cNvSpPr/>
          <p:nvPr/>
        </p:nvSpPr>
        <p:spPr>
          <a:xfrm>
            <a:off x="614363" y="1645183"/>
            <a:ext cx="22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85F82"/>
                </a:solidFill>
                <a:latin typeface="Noto Sans JP ExtraBold" pitchFamily="34" charset="0"/>
                <a:ea typeface="Noto Sans JP ExtraBold" pitchFamily="34" charset="-122"/>
                <a:cs typeface="Noto Sans JP ExtraBold" pitchFamily="34" charset="-120"/>
              </a:rPr>
              <a:t>1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985838" y="1630896"/>
            <a:ext cx="4343400" cy="754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00" b="1" dirty="0">
                <a:solidFill>
                  <a:srgbClr val="3A4A5A"/>
                </a:solidFill>
                <a:latin typeface="Noto Sans JP Bold" pitchFamily="34" charset="0"/>
                <a:ea typeface="Noto Sans JP Bold" pitchFamily="34" charset="-122"/>
                <a:cs typeface="Noto Sans JP Bold" pitchFamily="34" charset="-120"/>
              </a:rPr>
              <a:t>統計カードの導入</a:t>
            </a:r>
            <a:r>
              <a:rPr lang="en-US" sz="1150" dirty="0">
                <a:solidFill>
                  <a:srgbClr val="3A4A5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
</a:t>
            </a:r>
            <a:r>
              <a:rPr lang="en-US" sz="1150" dirty="0">
                <a:solidFill>
                  <a:srgbClr val="3A4A5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README に Stats・Top Languages を追加し、</a:t>
            </a:r>
            <a:r>
              <a:rPr lang="en-US" sz="1150" dirty="0">
                <a:solidFill>
                  <a:srgbClr val="3A4A5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Summary Cards（5枚）を常時表示。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14363" y="2513763"/>
            <a:ext cx="22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85F82"/>
                </a:solidFill>
                <a:latin typeface="Noto Sans JP ExtraBold" pitchFamily="34" charset="0"/>
                <a:ea typeface="Noto Sans JP ExtraBold" pitchFamily="34" charset="-122"/>
                <a:cs typeface="Noto Sans JP ExtraBold" pitchFamily="34" charset="-120"/>
              </a:rPr>
              <a:t>2</a:t>
            </a:r>
            <a:endParaRPr lang="en-US" sz="700" dirty="0"/>
          </a:p>
        </p:txBody>
      </p:sp>
      <p:sp>
        <p:nvSpPr>
          <p:cNvPr id="8" name="Text 5"/>
          <p:cNvSpPr/>
          <p:nvPr/>
        </p:nvSpPr>
        <p:spPr>
          <a:xfrm>
            <a:off x="985838" y="2499475"/>
            <a:ext cx="4343400" cy="754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00" b="1" dirty="0">
                <a:solidFill>
                  <a:srgbClr val="3A4A5A"/>
                </a:solidFill>
                <a:latin typeface="Noto Sans JP Bold" pitchFamily="34" charset="0"/>
                <a:ea typeface="Noto Sans JP Bold" pitchFamily="34" charset="-122"/>
                <a:cs typeface="Noto Sans JP Bold" pitchFamily="34" charset="-120"/>
              </a:rPr>
              <a:t>Vercel 自前配信</a:t>
            </a:r>
            <a:r>
              <a:rPr lang="en-US" sz="1150" dirty="0">
                <a:solidFill>
                  <a:srgbClr val="3A4A5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
</a:t>
            </a:r>
            <a:r>
              <a:rPr lang="en-US" sz="1150" dirty="0">
                <a:solidFill>
                  <a:srgbClr val="3A4A5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github-stats-extended をフォークせず</a:t>
            </a:r>
            <a:r>
              <a:rPr lang="en-US" sz="1150" dirty="0">
                <a:solidFill>
                  <a:srgbClr val="3A4A5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ローカルビルドで専用インスタンスへ配信。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14363" y="3382342"/>
            <a:ext cx="22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85F82"/>
                </a:solidFill>
                <a:latin typeface="Noto Sans JP ExtraBold" pitchFamily="34" charset="0"/>
                <a:ea typeface="Noto Sans JP ExtraBold" pitchFamily="34" charset="-122"/>
                <a:cs typeface="Noto Sans JP ExtraBold" pitchFamily="34" charset="-120"/>
              </a:rPr>
              <a:t>3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985838" y="3368055"/>
            <a:ext cx="4343400" cy="754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00" b="1" dirty="0">
                <a:solidFill>
                  <a:srgbClr val="3A4A5A"/>
                </a:solidFill>
                <a:latin typeface="Noto Sans JP Bold" pitchFamily="34" charset="0"/>
                <a:ea typeface="Noto Sans JP Bold" pitchFamily="34" charset="-122"/>
                <a:cs typeface="Noto Sans JP Bold" pitchFamily="34" charset="-120"/>
              </a:rPr>
              <a:t>Neo-Brutalism デザイン</a:t>
            </a:r>
            <a:r>
              <a:rPr lang="en-US" sz="1150" dirty="0">
                <a:solidFill>
                  <a:srgbClr val="3A4A5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
</a:t>
            </a:r>
            <a:r>
              <a:rPr lang="en-US" sz="1150" dirty="0">
                <a:solidFill>
                  <a:srgbClr val="3A4A5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クリーム地・黒ボーダー・ハードシャドウで</a:t>
            </a:r>
            <a:r>
              <a:rPr lang="en-US" sz="1150" dirty="0">
                <a:solidFill>
                  <a:srgbClr val="3A4A5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ポータルを角ばったデザインへ刷新。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14363" y="4250922"/>
            <a:ext cx="22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85F82"/>
                </a:solidFill>
                <a:latin typeface="Noto Sans JP ExtraBold" pitchFamily="34" charset="0"/>
                <a:ea typeface="Noto Sans JP ExtraBold" pitchFamily="34" charset="-122"/>
                <a:cs typeface="Noto Sans JP ExtraBold" pitchFamily="34" charset="-120"/>
              </a:rPr>
              <a:t>4</a:t>
            </a:r>
            <a:endParaRPr lang="en-US" sz="700" dirty="0"/>
          </a:p>
        </p:txBody>
      </p:sp>
      <p:sp>
        <p:nvSpPr>
          <p:cNvPr id="12" name="Text 9"/>
          <p:cNvSpPr/>
          <p:nvPr/>
        </p:nvSpPr>
        <p:spPr>
          <a:xfrm>
            <a:off x="985838" y="4272353"/>
            <a:ext cx="1432322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00" b="1" dirty="0">
                <a:solidFill>
                  <a:srgbClr val="3A4A5A"/>
                </a:solidFill>
                <a:latin typeface="Noto Sans JP Bold" pitchFamily="34" charset="0"/>
                <a:ea typeface="Noto Sans JP Bold" pitchFamily="34" charset="-122"/>
                <a:cs typeface="Noto Sans JP Bold" pitchFamily="34" charset="-120"/>
              </a:rPr>
              <a:t>README の分離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985838" y="4534495"/>
            <a:ext cx="1182849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3A4A5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開発資料を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2168686" y="4505920"/>
            <a:ext cx="1603102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3A4A5A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PROJECT_NOTES.md へ移し、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3771788" y="4534495"/>
            <a:ext cx="1476022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3A4A5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プロフィール表示を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985838" y="4785922"/>
            <a:ext cx="1753791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3A4A5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自己紹介に純化。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5672138" y="1545171"/>
            <a:ext cx="2857500" cy="3570759"/>
          </a:xfrm>
          <a:prstGeom prst="rect">
            <a:avLst/>
          </a:prstGeom>
          <a:solidFill>
            <a:srgbClr val="FFFFFF"/>
          </a:solidFill>
          <a:ln w="18288">
            <a:solidFill>
              <a:srgbClr val="9BAEC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786438" y="1659471"/>
            <a:ext cx="2628900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900" b="1" spc="1" kern="0" dirty="0">
                <a:solidFill>
                  <a:srgbClr val="285F82"/>
                </a:solidFill>
                <a:latin typeface="Noto Sans JP ExtraBold" pitchFamily="34" charset="0"/>
                <a:ea typeface="Noto Sans JP ExtraBold" pitchFamily="34" charset="-122"/>
                <a:cs typeface="Noto Sans JP ExtraBold" pitchFamily="34" charset="-120"/>
              </a:rPr>
              <a:t>導線の構成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5786438" y="1948793"/>
            <a:ext cx="2628900" cy="525066"/>
          </a:xfrm>
          <a:prstGeom prst="rect">
            <a:avLst/>
          </a:prstGeom>
          <a:solidFill>
            <a:srgbClr val="F8FAFC"/>
          </a:solidFill>
          <a:ln w="18288">
            <a:solidFill>
              <a:srgbClr val="C8D5D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786438" y="1948793"/>
            <a:ext cx="2628900" cy="525066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t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F3C4B"/>
                </a:solidFill>
                <a:latin typeface="Noto Sans JP Bold" pitchFamily="34" charset="0"/>
                <a:ea typeface="Noto Sans JP Bold" pitchFamily="34" charset="-122"/>
                <a:cs typeface="Noto Sans JP Bold" pitchFamily="34" charset="-120"/>
              </a:rPr>
              <a:t>個人ポータル</a:t>
            </a:r>
            <a:r>
              <a:rPr lang="en-US" sz="900" b="1" dirty="0">
                <a:solidFill>
                  <a:srgbClr val="2F3C4B"/>
                </a:solidFill>
                <a:latin typeface="Noto Sans JP Bold" pitchFamily="34" charset="0"/>
                <a:ea typeface="Noto Sans JP Bold" pitchFamily="34" charset="-122"/>
                <a:cs typeface="Noto Sans JP Bold" pitchFamily="34" charset="-120"/>
              </a:rPr>
              <a:t>
</a:t>
            </a:r>
            <a:r>
              <a:rPr lang="en-US" sz="750" dirty="0">
                <a:solidFill>
                  <a:srgbClr val="6A7E8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watanabe3tipapa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5786438" y="2502433"/>
            <a:ext cx="2628900" cy="196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9BAEC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↓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5786438" y="2756036"/>
            <a:ext cx="1285875" cy="278606"/>
          </a:xfrm>
          <a:prstGeom prst="rect">
            <a:avLst/>
          </a:prstGeom>
          <a:noFill/>
          <a:ln/>
        </p:spPr>
        <p:txBody>
          <a:bodyPr wrap="none" lIns="51054" tIns="68072" rIns="51054" bIns="68072" rtlCol="0" anchor="t"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06276"/>
                </a:solidFill>
                <a:latin typeface="Noto Sans JP Bold" pitchFamily="34" charset="0"/>
                <a:ea typeface="Noto Sans JP Bold" pitchFamily="34" charset="-122"/>
                <a:cs typeface="Noto Sans JP Bold" pitchFamily="34" charset="-120"/>
              </a:rPr>
              <a:t>公開サイト一覧</a:t>
            </a:r>
            <a:endParaRPr lang="en-US" sz="700" dirty="0"/>
          </a:p>
        </p:txBody>
      </p:sp>
      <p:sp>
        <p:nvSpPr>
          <p:cNvPr id="23" name="Text 20"/>
          <p:cNvSpPr/>
          <p:nvPr/>
        </p:nvSpPr>
        <p:spPr>
          <a:xfrm>
            <a:off x="7129463" y="2756036"/>
            <a:ext cx="1285875" cy="278606"/>
          </a:xfrm>
          <a:prstGeom prst="rect">
            <a:avLst/>
          </a:prstGeom>
          <a:noFill/>
          <a:ln/>
        </p:spPr>
        <p:txBody>
          <a:bodyPr wrap="none" lIns="51054" tIns="68072" rIns="51054" bIns="68072" rtlCol="0" anchor="t"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06276"/>
                </a:solidFill>
                <a:latin typeface="Noto Sans JP Bold" pitchFamily="34" charset="0"/>
                <a:ea typeface="Noto Sans JP Bold" pitchFamily="34" charset="-122"/>
                <a:cs typeface="Noto Sans JP Bold" pitchFamily="34" charset="-120"/>
              </a:rPr>
              <a:t>next</a:t>
            </a:r>
            <a:endParaRPr lang="en-US" sz="700" dirty="0"/>
          </a:p>
        </p:txBody>
      </p:sp>
      <p:sp>
        <p:nvSpPr>
          <p:cNvPr id="24" name="Text 21"/>
          <p:cNvSpPr/>
          <p:nvPr/>
        </p:nvSpPr>
        <p:spPr>
          <a:xfrm>
            <a:off x="5786438" y="3091793"/>
            <a:ext cx="1285875" cy="257175"/>
          </a:xfrm>
          <a:prstGeom prst="rect">
            <a:avLst/>
          </a:prstGeom>
          <a:noFill/>
          <a:ln/>
        </p:spPr>
        <p:txBody>
          <a:bodyPr wrap="none" lIns="51054" tIns="68072" rIns="51054" bIns="68072" rtlCol="0" anchor="t"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06276"/>
                </a:solidFill>
                <a:latin typeface="Noto Sans JP Bold" pitchFamily="34" charset="0"/>
                <a:ea typeface="Noto Sans JP Bold" pitchFamily="34" charset="-122"/>
                <a:cs typeface="Noto Sans JP Bold" pitchFamily="34" charset="-120"/>
              </a:rPr>
              <a:t>Projects</a:t>
            </a:r>
            <a:endParaRPr lang="en-US" sz="700" dirty="0"/>
          </a:p>
        </p:txBody>
      </p:sp>
      <p:sp>
        <p:nvSpPr>
          <p:cNvPr id="25" name="Text 22"/>
          <p:cNvSpPr/>
          <p:nvPr/>
        </p:nvSpPr>
        <p:spPr>
          <a:xfrm>
            <a:off x="7129463" y="3091793"/>
            <a:ext cx="1285875" cy="257175"/>
          </a:xfrm>
          <a:prstGeom prst="rect">
            <a:avLst/>
          </a:prstGeom>
          <a:noFill/>
          <a:ln/>
        </p:spPr>
        <p:txBody>
          <a:bodyPr wrap="none" lIns="51054" tIns="68072" rIns="51054" bIns="68072" rtlCol="0" anchor="t"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06276"/>
                </a:solidFill>
                <a:latin typeface="Noto Sans JP Bold" pitchFamily="34" charset="0"/>
                <a:ea typeface="Noto Sans JP Bold" pitchFamily="34" charset="-122"/>
                <a:cs typeface="Noto Sans JP Bold" pitchFamily="34" charset="-120"/>
              </a:rPr>
              <a:t>GitHub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4363" y="514350"/>
            <a:ext cx="7915275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spc="1" kern="0" dirty="0">
                <a:solidFill>
                  <a:srgbClr val="58758A"/>
                </a:solidFill>
                <a:latin typeface="Noto Sans JP Bold" pitchFamily="34" charset="0"/>
                <a:ea typeface="Noto Sans JP Bold" pitchFamily="34" charset="-122"/>
                <a:cs typeface="Noto Sans JP Bold" pitchFamily="34" charset="-120"/>
              </a:rPr>
              <a:t>03 / CATALOG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614363" y="775097"/>
            <a:ext cx="7915275" cy="42717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50" b="1" spc="-1" kern="0" dirty="0">
                <a:solidFill>
                  <a:srgbClr val="2F3C4B"/>
                </a:solidFill>
                <a:latin typeface="Noto Sans JP Bold" pitchFamily="34" charset="0"/>
                <a:ea typeface="Noto Sans JP Bold" pitchFamily="34" charset="-122"/>
                <a:cs typeface="Noto Sans JP Bold" pitchFamily="34" charset="-120"/>
              </a:rPr>
              <a:t>統計基盤: 自前 Vercel と Summary Cards</a:t>
            </a:r>
            <a:endParaRPr lang="en-US" sz="2350" dirty="0"/>
          </a:p>
        </p:txBody>
      </p:sp>
      <p:sp>
        <p:nvSpPr>
          <p:cNvPr id="5" name="Shape 2"/>
          <p:cNvSpPr/>
          <p:nvPr/>
        </p:nvSpPr>
        <p:spPr>
          <a:xfrm>
            <a:off x="614363" y="1588033"/>
            <a:ext cx="3886200" cy="1457325"/>
          </a:xfrm>
          <a:prstGeom prst="rect">
            <a:avLst/>
          </a:prstGeom>
          <a:solidFill>
            <a:srgbClr val="FFFFFF"/>
          </a:solidFill>
          <a:ln w="18288">
            <a:solidFill>
              <a:srgbClr val="9BAEC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42950" y="1716621"/>
            <a:ext cx="342900" cy="342900"/>
          </a:xfrm>
          <a:prstGeom prst="ellipse">
            <a:avLst/>
          </a:prstGeom>
          <a:solidFill>
            <a:srgbClr val="F8FAFC"/>
          </a:solidFill>
          <a:ln w="18288">
            <a:solidFill>
              <a:srgbClr val="C8D5D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42950" y="1716621"/>
            <a:ext cx="3429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85F82"/>
                </a:solidFill>
                <a:latin typeface="Noto Sans JP ExtraBold" pitchFamily="34" charset="0"/>
                <a:ea typeface="Noto Sans JP ExtraBold" pitchFamily="34" charset="-122"/>
                <a:cs typeface="Noto Sans JP ExtraBold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42950" y="2145246"/>
            <a:ext cx="36290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85F82"/>
                </a:solidFill>
                <a:latin typeface="Noto Sans JP ExtraBold" pitchFamily="34" charset="0"/>
                <a:ea typeface="Noto Sans JP ExtraBold" pitchFamily="34" charset="-122"/>
                <a:cs typeface="Noto Sans JP ExtraBold" pitchFamily="34" charset="-120"/>
              </a:rPr>
              <a:t>自前 Vercel インスタンス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42950" y="2430996"/>
            <a:ext cx="36290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50627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共有インスタンスが停止していたため、github-stats-extended をローカルビルドし専用配信へ。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643438" y="1588033"/>
            <a:ext cx="3886200" cy="1457325"/>
          </a:xfrm>
          <a:prstGeom prst="rect">
            <a:avLst/>
          </a:prstGeom>
          <a:solidFill>
            <a:srgbClr val="FFFFFF"/>
          </a:solidFill>
          <a:ln w="18288">
            <a:solidFill>
              <a:srgbClr val="9BAEC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772025" y="1716621"/>
            <a:ext cx="342900" cy="342900"/>
          </a:xfrm>
          <a:prstGeom prst="ellipse">
            <a:avLst/>
          </a:prstGeom>
          <a:solidFill>
            <a:srgbClr val="F8FAFC"/>
          </a:solidFill>
          <a:ln w="18288">
            <a:solidFill>
              <a:srgbClr val="C8D5D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772025" y="1716621"/>
            <a:ext cx="3429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85F82"/>
                </a:solidFill>
                <a:latin typeface="Noto Sans JP ExtraBold" pitchFamily="34" charset="0"/>
                <a:ea typeface="Noto Sans JP ExtraBold" pitchFamily="34" charset="-122"/>
                <a:cs typeface="Noto Sans JP ExtraBold" pitchFamily="34" charset="-120"/>
              </a:rPr>
              <a:t>2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772025" y="2145246"/>
            <a:ext cx="36290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85F82"/>
                </a:solidFill>
                <a:latin typeface="Noto Sans JP ExtraBold" pitchFamily="34" charset="0"/>
                <a:ea typeface="Noto Sans JP ExtraBold" pitchFamily="34" charset="-122"/>
                <a:cs typeface="Noto Sans JP ExtraBold" pitchFamily="34" charset="-120"/>
              </a:rPr>
              <a:t>Summary Cards 定期生成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772025" y="2430996"/>
            <a:ext cx="36290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50627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GitHub Actions が毎日 0:00 に5枚を default テーマで生成しコミット。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14363" y="3159658"/>
            <a:ext cx="3886200" cy="1457325"/>
          </a:xfrm>
          <a:prstGeom prst="rect">
            <a:avLst/>
          </a:prstGeom>
          <a:solidFill>
            <a:srgbClr val="FFFFFF"/>
          </a:solidFill>
          <a:ln w="18288">
            <a:solidFill>
              <a:srgbClr val="9BAEC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42950" y="3288246"/>
            <a:ext cx="342900" cy="342900"/>
          </a:xfrm>
          <a:prstGeom prst="ellipse">
            <a:avLst/>
          </a:prstGeom>
          <a:solidFill>
            <a:srgbClr val="F8FAFC"/>
          </a:solidFill>
          <a:ln w="18288">
            <a:solidFill>
              <a:srgbClr val="C8D5D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42950" y="3288246"/>
            <a:ext cx="3429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85F82"/>
                </a:solidFill>
                <a:latin typeface="Noto Sans JP ExtraBold" pitchFamily="34" charset="0"/>
                <a:ea typeface="Noto Sans JP ExtraBold" pitchFamily="34" charset="-122"/>
                <a:cs typeface="Noto Sans JP ExtraBold" pitchFamily="34" charset="-120"/>
              </a:rPr>
              <a:t>3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742950" y="3716871"/>
            <a:ext cx="36290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85F82"/>
                </a:solidFill>
                <a:latin typeface="Noto Sans JP ExtraBold" pitchFamily="34" charset="0"/>
                <a:ea typeface="Noto Sans JP ExtraBold" pitchFamily="34" charset="-122"/>
                <a:cs typeface="Noto Sans JP ExtraBold" pitchFamily="34" charset="-120"/>
              </a:rPr>
              <a:t>トークン運用の整理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742950" y="4002621"/>
            <a:ext cx="36290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50627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SUMMARY_CARDS_TOKEN に read:user を付与し、全テーマ生成を THEME: default で防止。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4643438" y="3159658"/>
            <a:ext cx="3886200" cy="1457325"/>
          </a:xfrm>
          <a:prstGeom prst="rect">
            <a:avLst/>
          </a:prstGeom>
          <a:solidFill>
            <a:srgbClr val="FFFFFF"/>
          </a:solidFill>
          <a:ln w="18288">
            <a:solidFill>
              <a:srgbClr val="9BAEC0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772025" y="3288246"/>
            <a:ext cx="342900" cy="342900"/>
          </a:xfrm>
          <a:prstGeom prst="ellipse">
            <a:avLst/>
          </a:prstGeom>
          <a:solidFill>
            <a:srgbClr val="F8FAFC"/>
          </a:solidFill>
          <a:ln w="18288">
            <a:solidFill>
              <a:srgbClr val="C8D5D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772025" y="3288246"/>
            <a:ext cx="3429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85F82"/>
                </a:solidFill>
                <a:latin typeface="Noto Sans JP ExtraBold" pitchFamily="34" charset="0"/>
                <a:ea typeface="Noto Sans JP ExtraBold" pitchFamily="34" charset="-122"/>
                <a:cs typeface="Noto Sans JP ExtraBold" pitchFamily="34" charset="-120"/>
              </a:rPr>
              <a:t>4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4772025" y="3716871"/>
            <a:ext cx="36290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85F82"/>
                </a:solidFill>
                <a:latin typeface="Noto Sans JP ExtraBold" pitchFamily="34" charset="0"/>
                <a:ea typeface="Noto Sans JP ExtraBold" pitchFamily="34" charset="-122"/>
                <a:cs typeface="Noto Sans JP ExtraBold" pitchFamily="34" charset="-120"/>
              </a:rPr>
              <a:t>配信の検証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4772025" y="4002621"/>
            <a:ext cx="36290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50627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生成カードは raw.githubusercontent.com から HTTP 200 で配信されることを確認。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4363" y="514350"/>
            <a:ext cx="7915275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spc="1" kern="0" dirty="0">
                <a:solidFill>
                  <a:srgbClr val="58758A"/>
                </a:solidFill>
                <a:latin typeface="Noto Sans JP Bold" pitchFamily="34" charset="0"/>
                <a:ea typeface="Noto Sans JP Bold" pitchFamily="34" charset="-122"/>
                <a:cs typeface="Noto Sans JP Bold" pitchFamily="34" charset="-120"/>
              </a:rPr>
              <a:t>04 / DOCUMENTATION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614363" y="775097"/>
            <a:ext cx="7915275" cy="42717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50" b="1" spc="-1" kern="0" dirty="0">
                <a:solidFill>
                  <a:srgbClr val="2F3C4B"/>
                </a:solidFill>
                <a:latin typeface="Noto Sans JP Bold" pitchFamily="34" charset="0"/>
                <a:ea typeface="Noto Sans JP Bold" pitchFamily="34" charset="-122"/>
                <a:cs typeface="Noto Sans JP Bold" pitchFamily="34" charset="-120"/>
              </a:rPr>
              <a:t>資料: README の分離と運用</a:t>
            </a:r>
            <a:endParaRPr lang="en-US" sz="2350" dirty="0"/>
          </a:p>
        </p:txBody>
      </p:sp>
      <p:sp>
        <p:nvSpPr>
          <p:cNvPr id="5" name="Text 2"/>
          <p:cNvSpPr/>
          <p:nvPr/>
        </p:nvSpPr>
        <p:spPr>
          <a:xfrm>
            <a:off x="614363" y="1616608"/>
            <a:ext cx="22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85F82"/>
                </a:solidFill>
                <a:latin typeface="Noto Sans JP ExtraBold" pitchFamily="34" charset="0"/>
                <a:ea typeface="Noto Sans JP ExtraBold" pitchFamily="34" charset="-122"/>
                <a:cs typeface="Noto Sans JP ExtraBold" pitchFamily="34" charset="-120"/>
              </a:rPr>
              <a:t>1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985838" y="1602321"/>
            <a:ext cx="4229100" cy="754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00" b="1" dirty="0">
                <a:solidFill>
                  <a:srgbClr val="3A4A5A"/>
                </a:solidFill>
                <a:latin typeface="Noto Sans JP Bold" pitchFamily="34" charset="0"/>
                <a:ea typeface="Noto Sans JP Bold" pitchFamily="34" charset="-122"/>
                <a:cs typeface="Noto Sans JP Bold" pitchFamily="34" charset="-120"/>
              </a:rPr>
              <a:t>README の分離</a:t>
            </a:r>
            <a:r>
              <a:rPr lang="en-US" sz="1150" dirty="0">
                <a:solidFill>
                  <a:srgbClr val="3A4A5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
</a:t>
            </a:r>
            <a:r>
              <a:rPr lang="en-US" sz="1150" dirty="0">
                <a:solidFill>
                  <a:srgbClr val="3A4A5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開発手順・構成表・変更履歴を</a:t>
            </a:r>
            <a:r>
              <a:rPr lang="en-US" sz="1150" dirty="0">
                <a:solidFill>
                  <a:srgbClr val="3A4A5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PROJECT_NOTES.md へ移し、README をプロフィール表示へ。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14363" y="2456613"/>
            <a:ext cx="22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85F82"/>
                </a:solidFill>
                <a:latin typeface="Noto Sans JP ExtraBold" pitchFamily="34" charset="0"/>
                <a:ea typeface="Noto Sans JP ExtraBold" pitchFamily="34" charset="-122"/>
                <a:cs typeface="Noto Sans JP ExtraBold" pitchFamily="34" charset="-120"/>
              </a:rPr>
              <a:t>2</a:t>
            </a:r>
            <a:endParaRPr lang="en-US" sz="700" dirty="0"/>
          </a:p>
        </p:txBody>
      </p:sp>
      <p:sp>
        <p:nvSpPr>
          <p:cNvPr id="8" name="Text 5"/>
          <p:cNvSpPr/>
          <p:nvPr/>
        </p:nvSpPr>
        <p:spPr>
          <a:xfrm>
            <a:off x="985838" y="2442325"/>
            <a:ext cx="4229100" cy="754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00" b="1" dirty="0">
                <a:solidFill>
                  <a:srgbClr val="3A4A5A"/>
                </a:solidFill>
                <a:latin typeface="Noto Sans JP Bold" pitchFamily="34" charset="0"/>
                <a:ea typeface="Noto Sans JP Bold" pitchFamily="34" charset="-122"/>
                <a:cs typeface="Noto Sans JP Bold" pitchFamily="34" charset="-120"/>
              </a:rPr>
              <a:t>Topic と About の更新</a:t>
            </a:r>
            <a:r>
              <a:rPr lang="en-US" sz="1150" dirty="0">
                <a:solidFill>
                  <a:srgbClr val="3A4A5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
</a:t>
            </a:r>
            <a:r>
              <a:rPr lang="en-US" sz="1150" dirty="0">
                <a:solidFill>
                  <a:srgbClr val="3A4A5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リポジトリに astro・github-profile-readme 等を</a:t>
            </a:r>
            <a:r>
              <a:rPr lang="en-US" sz="1150" dirty="0">
                <a:solidFill>
                  <a:srgbClr val="3A4A5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追加し、About 説明文を刷新。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14363" y="3296617"/>
            <a:ext cx="22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85F82"/>
                </a:solidFill>
                <a:latin typeface="Noto Sans JP ExtraBold" pitchFamily="34" charset="0"/>
                <a:ea typeface="Noto Sans JP ExtraBold" pitchFamily="34" charset="-122"/>
                <a:cs typeface="Noto Sans JP ExtraBold" pitchFamily="34" charset="-120"/>
              </a:rPr>
              <a:t>3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985838" y="3282330"/>
            <a:ext cx="4229100" cy="754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00" b="1" dirty="0">
                <a:solidFill>
                  <a:srgbClr val="3A4A5A"/>
                </a:solidFill>
                <a:latin typeface="Noto Sans JP Bold" pitchFamily="34" charset="0"/>
                <a:ea typeface="Noto Sans JP Bold" pitchFamily="34" charset="-122"/>
                <a:cs typeface="Noto Sans JP Bold" pitchFamily="34" charset="-120"/>
              </a:rPr>
              <a:t>導線の一元化</a:t>
            </a:r>
            <a:r>
              <a:rPr lang="en-US" sz="1150" dirty="0">
                <a:solidFill>
                  <a:srgbClr val="3A4A5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
</a:t>
            </a:r>
            <a:r>
              <a:rPr lang="en-US" sz="1150" dirty="0">
                <a:solidFill>
                  <a:srgbClr val="3A4A5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公開ポータル・一覧・next・GitHub への</a:t>
            </a:r>
            <a:r>
              <a:rPr lang="en-US" sz="1150" dirty="0">
                <a:solidFill>
                  <a:srgbClr val="3A4A5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入り口を README 上部へ集約。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14363" y="4136622"/>
            <a:ext cx="22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85F82"/>
                </a:solidFill>
                <a:latin typeface="Noto Sans JP ExtraBold" pitchFamily="34" charset="0"/>
                <a:ea typeface="Noto Sans JP ExtraBold" pitchFamily="34" charset="-122"/>
                <a:cs typeface="Noto Sans JP ExtraBold" pitchFamily="34" charset="-120"/>
              </a:rPr>
              <a:t>4</a:t>
            </a:r>
            <a:endParaRPr lang="en-US" sz="700" dirty="0"/>
          </a:p>
        </p:txBody>
      </p:sp>
      <p:sp>
        <p:nvSpPr>
          <p:cNvPr id="12" name="Text 9"/>
          <p:cNvSpPr/>
          <p:nvPr/>
        </p:nvSpPr>
        <p:spPr>
          <a:xfrm>
            <a:off x="985838" y="4122334"/>
            <a:ext cx="4229100" cy="754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00" b="1" dirty="0">
                <a:solidFill>
                  <a:srgbClr val="3A4A5A"/>
                </a:solidFill>
                <a:latin typeface="Noto Sans JP Bold" pitchFamily="34" charset="0"/>
                <a:ea typeface="Noto Sans JP Bold" pitchFamily="34" charset="-122"/>
                <a:cs typeface="Noto Sans JP Bold" pitchFamily="34" charset="-120"/>
              </a:rPr>
              <a:t>変更履歴の整理</a:t>
            </a:r>
            <a:r>
              <a:rPr lang="en-US" sz="1150" dirty="0">
                <a:solidFill>
                  <a:srgbClr val="3A4A5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
</a:t>
            </a:r>
            <a:r>
              <a:rPr lang="en-US" sz="1150" dirty="0">
                <a:solidFill>
                  <a:srgbClr val="3A4A5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DEV-MEMO に実装判断と注意点（トークン・</a:t>
            </a:r>
            <a:r>
              <a:rPr lang="en-US" sz="1150" dirty="0">
                <a:solidFill>
                  <a:srgbClr val="3A4A5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THEME・デプロイ）を記録。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672138" y="1545171"/>
            <a:ext cx="2857500" cy="3417168"/>
          </a:xfrm>
          <a:prstGeom prst="rect">
            <a:avLst/>
          </a:prstGeom>
          <a:solidFill>
            <a:srgbClr val="FFFFFF"/>
          </a:solidFill>
          <a:ln w="18288">
            <a:solidFill>
              <a:srgbClr val="9BAEC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900738" y="1602321"/>
            <a:ext cx="2400300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900" b="1" spc="1" kern="0" dirty="0">
                <a:solidFill>
                  <a:srgbClr val="285F82"/>
                </a:solidFill>
                <a:latin typeface="Noto Sans JP ExtraBold" pitchFamily="34" charset="0"/>
                <a:ea typeface="Noto Sans JP ExtraBold" pitchFamily="34" charset="-122"/>
                <a:cs typeface="Noto Sans JP ExtraBold" pitchFamily="34" charset="-120"/>
              </a:rPr>
              <a:t>公開経路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5900738" y="1820205"/>
            <a:ext cx="2400300" cy="557213"/>
          </a:xfrm>
          <a:prstGeom prst="rect">
            <a:avLst/>
          </a:prstGeom>
          <a:solidFill>
            <a:srgbClr val="F8FAFC"/>
          </a:solidFill>
          <a:ln w="18288">
            <a:solidFill>
              <a:srgbClr val="C8D5D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900738" y="1820205"/>
            <a:ext cx="2400300" cy="557213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t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F3C4B"/>
                </a:solidFill>
                <a:latin typeface="Noto Sans JP Bold" pitchFamily="34" charset="0"/>
                <a:ea typeface="Noto Sans JP Bold" pitchFamily="34" charset="-122"/>
                <a:cs typeface="Noto Sans JP Bold" pitchFamily="34" charset="-120"/>
              </a:rPr>
              <a:t>Source</a:t>
            </a:r>
            <a:r>
              <a:rPr lang="en-US" sz="900" b="1" dirty="0">
                <a:solidFill>
                  <a:srgbClr val="2F3C4B"/>
                </a:solidFill>
                <a:latin typeface="Noto Sans JP Bold" pitchFamily="34" charset="0"/>
                <a:ea typeface="Noto Sans JP Bold" pitchFamily="34" charset="-122"/>
                <a:cs typeface="Noto Sans JP Bold" pitchFamily="34" charset="-120"/>
              </a:rPr>
              <a:t>
</a:t>
            </a:r>
            <a:r>
              <a:rPr lang="en-US" sz="750" dirty="0">
                <a:solidFill>
                  <a:srgbClr val="6A7E8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GitHub Repository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5900738" y="2405993"/>
            <a:ext cx="2400300" cy="196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9BAEC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↓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5900738" y="2659596"/>
            <a:ext cx="2400300" cy="557213"/>
          </a:xfrm>
          <a:prstGeom prst="rect">
            <a:avLst/>
          </a:prstGeom>
          <a:solidFill>
            <a:srgbClr val="F8FAFC"/>
          </a:solidFill>
          <a:ln w="18288">
            <a:solidFill>
              <a:srgbClr val="C8D5D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900738" y="2659596"/>
            <a:ext cx="2400300" cy="557213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t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F3C4B"/>
                </a:solidFill>
                <a:latin typeface="Noto Sans JP Bold" pitchFamily="34" charset="0"/>
                <a:ea typeface="Noto Sans JP Bold" pitchFamily="34" charset="-122"/>
                <a:cs typeface="Noto Sans JP Bold" pitchFamily="34" charset="-120"/>
              </a:rPr>
              <a:t>Build &amp; Deploy</a:t>
            </a:r>
            <a:r>
              <a:rPr lang="en-US" sz="900" b="1" dirty="0">
                <a:solidFill>
                  <a:srgbClr val="2F3C4B"/>
                </a:solidFill>
                <a:latin typeface="Noto Sans JP Bold" pitchFamily="34" charset="0"/>
                <a:ea typeface="Noto Sans JP Bold" pitchFamily="34" charset="-122"/>
                <a:cs typeface="Noto Sans JP Bold" pitchFamily="34" charset="-120"/>
              </a:rPr>
              <a:t>
</a:t>
            </a:r>
            <a:r>
              <a:rPr lang="en-US" sz="750" dirty="0">
                <a:solidFill>
                  <a:srgbClr val="6A7E8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GitHub Actions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5900738" y="3245383"/>
            <a:ext cx="2400300" cy="196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9BAEC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↓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5900738" y="3498986"/>
            <a:ext cx="2400300" cy="557213"/>
          </a:xfrm>
          <a:prstGeom prst="rect">
            <a:avLst/>
          </a:prstGeom>
          <a:solidFill>
            <a:srgbClr val="F8FAFC"/>
          </a:solidFill>
          <a:ln w="18288">
            <a:solidFill>
              <a:srgbClr val="C8D5D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900738" y="3498986"/>
            <a:ext cx="2400300" cy="557213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t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F3C4B"/>
                </a:solidFill>
                <a:latin typeface="Noto Sans JP Bold" pitchFamily="34" charset="0"/>
                <a:ea typeface="Noto Sans JP Bold" pitchFamily="34" charset="-122"/>
                <a:cs typeface="Noto Sans JP Bold" pitchFamily="34" charset="-120"/>
              </a:rPr>
              <a:t>Public Site</a:t>
            </a:r>
            <a:r>
              <a:rPr lang="en-US" sz="900" b="1" dirty="0">
                <a:solidFill>
                  <a:srgbClr val="2F3C4B"/>
                </a:solidFill>
                <a:latin typeface="Noto Sans JP Bold" pitchFamily="34" charset="0"/>
                <a:ea typeface="Noto Sans JP Bold" pitchFamily="34" charset="-122"/>
                <a:cs typeface="Noto Sans JP Bold" pitchFamily="34" charset="-120"/>
              </a:rPr>
              <a:t>
</a:t>
            </a:r>
            <a:r>
              <a:rPr lang="en-US" sz="750" dirty="0">
                <a:solidFill>
                  <a:srgbClr val="6A7E8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next.watanabe3ti.com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4363" y="514350"/>
            <a:ext cx="7915275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spc="1" kern="0" dirty="0">
                <a:solidFill>
                  <a:srgbClr val="58758A"/>
                </a:solidFill>
                <a:latin typeface="Noto Sans JP Bold" pitchFamily="34" charset="0"/>
                <a:ea typeface="Noto Sans JP Bold" pitchFamily="34" charset="-122"/>
                <a:cs typeface="Noto Sans JP Bold" pitchFamily="34" charset="-120"/>
              </a:rPr>
              <a:t>05 / ECOSYSTEM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614363" y="775097"/>
            <a:ext cx="7915275" cy="42717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50" b="1" spc="-1" kern="0" dirty="0">
                <a:solidFill>
                  <a:srgbClr val="2F3C4B"/>
                </a:solidFill>
                <a:latin typeface="Noto Sans JP Bold" pitchFamily="34" charset="0"/>
                <a:ea typeface="Noto Sans JP Bold" pitchFamily="34" charset="-122"/>
                <a:cs typeface="Noto Sans JP Bold" pitchFamily="34" charset="-120"/>
              </a:rPr>
              <a:t>ECOSYSTEM: 運用上の原則</a:t>
            </a:r>
            <a:endParaRPr lang="en-US" sz="2350" dirty="0"/>
          </a:p>
        </p:txBody>
      </p:sp>
      <p:sp>
        <p:nvSpPr>
          <p:cNvPr id="5" name="Shape 2"/>
          <p:cNvSpPr/>
          <p:nvPr/>
        </p:nvSpPr>
        <p:spPr>
          <a:xfrm>
            <a:off x="614363" y="1588033"/>
            <a:ext cx="3814763" cy="1550194"/>
          </a:xfrm>
          <a:prstGeom prst="rect">
            <a:avLst/>
          </a:prstGeom>
          <a:solidFill>
            <a:srgbClr val="FFFFFF"/>
          </a:solidFill>
          <a:ln w="18288">
            <a:solidFill>
              <a:srgbClr val="9BAEC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42963" y="1816633"/>
            <a:ext cx="25717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85F82"/>
                </a:solidFill>
                <a:latin typeface="Noto Sans JP ExtraBold" pitchFamily="34" charset="0"/>
                <a:ea typeface="Noto Sans JP ExtraBold" pitchFamily="34" charset="-122"/>
                <a:cs typeface="Noto Sans JP ExtraBold" pitchFamily="34" charset="-120"/>
              </a:rPr>
              <a:t>1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214438" y="1830921"/>
            <a:ext cx="140263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85F82"/>
                </a:solidFill>
                <a:latin typeface="Noto Sans JP ExtraBold" pitchFamily="34" charset="0"/>
                <a:ea typeface="Noto Sans JP ExtraBold" pitchFamily="34" charset="-122"/>
                <a:cs typeface="Noto Sans JP ExtraBold" pitchFamily="34" charset="-120"/>
              </a:rPr>
              <a:t>役割の明文化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42963" y="2230971"/>
            <a:ext cx="1437177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50627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README はプロフィール用に、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2280140" y="2202396"/>
            <a:ext cx="1028700" cy="1964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506276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開発資料は PROJECT_NOTES.md へ。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3308840" y="2230971"/>
            <a:ext cx="761256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50627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統計カードは GitHub Actions が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842963" y="2459571"/>
            <a:ext cx="3189684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50627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毎日生成し、配信先を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842963" y="2688171"/>
            <a:ext cx="289322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50627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統一。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714875" y="1588033"/>
            <a:ext cx="3814763" cy="1521619"/>
          </a:xfrm>
          <a:prstGeom prst="rect">
            <a:avLst/>
          </a:prstGeom>
          <a:solidFill>
            <a:srgbClr val="FFFFFF"/>
          </a:solidFill>
          <a:ln w="18288">
            <a:solidFill>
              <a:srgbClr val="9BAEC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943475" y="1816633"/>
            <a:ext cx="25717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85F82"/>
                </a:solidFill>
                <a:latin typeface="Noto Sans JP ExtraBold" pitchFamily="34" charset="0"/>
                <a:ea typeface="Noto Sans JP ExtraBold" pitchFamily="34" charset="-122"/>
                <a:cs typeface="Noto Sans JP ExtraBold" pitchFamily="34" charset="-120"/>
              </a:rPr>
              <a:t>2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5314950" y="1830921"/>
            <a:ext cx="140263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85F82"/>
                </a:solidFill>
                <a:latin typeface="Noto Sans JP ExtraBold" pitchFamily="34" charset="0"/>
                <a:ea typeface="Noto Sans JP ExtraBold" pitchFamily="34" charset="-122"/>
                <a:cs typeface="Noto Sans JP ExtraBold" pitchFamily="34" charset="-120"/>
              </a:rPr>
              <a:t>統計の自動生成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943475" y="2188108"/>
            <a:ext cx="335756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50627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Summary Cards は GitHub Actions が毎日生成し、プロフィールの陳腐化を防ぐ。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614363" y="3395402"/>
            <a:ext cx="3814763" cy="1543050"/>
          </a:xfrm>
          <a:prstGeom prst="rect">
            <a:avLst/>
          </a:prstGeom>
          <a:solidFill>
            <a:srgbClr val="FFFFFF"/>
          </a:solidFill>
          <a:ln w="18288">
            <a:solidFill>
              <a:srgbClr val="9BAEC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42963" y="3624002"/>
            <a:ext cx="25717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85F82"/>
                </a:solidFill>
                <a:latin typeface="Noto Sans JP ExtraBold" pitchFamily="34" charset="0"/>
                <a:ea typeface="Noto Sans JP ExtraBold" pitchFamily="34" charset="-122"/>
                <a:cs typeface="Noto Sans JP ExtraBold" pitchFamily="34" charset="-120"/>
              </a:rPr>
              <a:t>3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1214438" y="3638290"/>
            <a:ext cx="140977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85F82"/>
                </a:solidFill>
                <a:latin typeface="Noto Sans JP ExtraBold" pitchFamily="34" charset="0"/>
                <a:ea typeface="Noto Sans JP ExtraBold" pitchFamily="34" charset="-122"/>
                <a:cs typeface="Noto Sans JP ExtraBold" pitchFamily="34" charset="-120"/>
              </a:rPr>
              <a:t>資料更新のルール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842963" y="3995477"/>
            <a:ext cx="335756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50627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開発資料は PROJECT_NOTES.md を、実装判断は DEV-MEMO.md を更新し、情報を重複させない。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4714875" y="3395402"/>
            <a:ext cx="3814763" cy="1543050"/>
          </a:xfrm>
          <a:prstGeom prst="rect">
            <a:avLst/>
          </a:prstGeom>
          <a:solidFill>
            <a:srgbClr val="FFFFFF"/>
          </a:solidFill>
          <a:ln w="18288">
            <a:solidFill>
              <a:srgbClr val="9BAEC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943475" y="3624002"/>
            <a:ext cx="25717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85F82"/>
                </a:solidFill>
                <a:latin typeface="Noto Sans JP ExtraBold" pitchFamily="34" charset="0"/>
                <a:ea typeface="Noto Sans JP ExtraBold" pitchFamily="34" charset="-122"/>
                <a:cs typeface="Noto Sans JP ExtraBold" pitchFamily="34" charset="-120"/>
              </a:rPr>
              <a:t>4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5314950" y="3638290"/>
            <a:ext cx="140263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85F82"/>
                </a:solidFill>
                <a:latin typeface="Noto Sans JP ExtraBold" pitchFamily="34" charset="0"/>
                <a:ea typeface="Noto Sans JP ExtraBold" pitchFamily="34" charset="-122"/>
                <a:cs typeface="Noto Sans JP ExtraBold" pitchFamily="34" charset="-120"/>
              </a:rPr>
              <a:t>導線変更時の点検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4943475" y="3995477"/>
            <a:ext cx="335756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50627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README とポータルは一体で更新し、表示する導線の整合を保つ。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4363" y="514350"/>
            <a:ext cx="7915275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spc="1" kern="0" dirty="0">
                <a:solidFill>
                  <a:srgbClr val="58758A"/>
                </a:solidFill>
                <a:latin typeface="Noto Sans JP Bold" pitchFamily="34" charset="0"/>
                <a:ea typeface="Noto Sans JP Bold" pitchFamily="34" charset="-122"/>
                <a:cs typeface="Noto Sans JP Bold" pitchFamily="34" charset="-120"/>
              </a:rPr>
              <a:t>06 / QUALITY &amp; CONTINUITY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614363" y="775097"/>
            <a:ext cx="7915275" cy="42717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50" b="1" spc="-1" kern="0" dirty="0">
                <a:solidFill>
                  <a:srgbClr val="2F3C4B"/>
                </a:solidFill>
                <a:latin typeface="Noto Sans JP Bold" pitchFamily="34" charset="0"/>
                <a:ea typeface="Noto Sans JP Bold" pitchFamily="34" charset="-122"/>
                <a:cs typeface="Noto Sans JP Bold" pitchFamily="34" charset="-120"/>
              </a:rPr>
              <a:t>リリース品質と継続性</a:t>
            </a:r>
            <a:endParaRPr lang="en-US" sz="2350" dirty="0"/>
          </a:p>
        </p:txBody>
      </p:sp>
      <p:sp>
        <p:nvSpPr>
          <p:cNvPr id="5" name="Text 2"/>
          <p:cNvSpPr/>
          <p:nvPr/>
        </p:nvSpPr>
        <p:spPr>
          <a:xfrm>
            <a:off x="614363" y="1645183"/>
            <a:ext cx="22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85F82"/>
                </a:solidFill>
                <a:latin typeface="Noto Sans JP ExtraBold" pitchFamily="34" charset="0"/>
                <a:ea typeface="Noto Sans JP ExtraBold" pitchFamily="34" charset="-122"/>
                <a:cs typeface="Noto Sans JP ExtraBold" pitchFamily="34" charset="-120"/>
              </a:rPr>
              <a:t>1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985838" y="1630896"/>
            <a:ext cx="3657600" cy="754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00" b="1" dirty="0">
                <a:solidFill>
                  <a:srgbClr val="3A4A5A"/>
                </a:solidFill>
                <a:latin typeface="Noto Sans JP Bold" pitchFamily="34" charset="0"/>
                <a:ea typeface="Noto Sans JP Bold" pitchFamily="34" charset="-122"/>
                <a:cs typeface="Noto Sans JP Bold" pitchFamily="34" charset="-120"/>
              </a:rPr>
              <a:t>Astro のビルドと検査</a:t>
            </a:r>
            <a:r>
              <a:rPr lang="en-US" sz="1150" dirty="0">
                <a:solidFill>
                  <a:srgbClr val="3A4A5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
</a:t>
            </a:r>
            <a:r>
              <a:rPr lang="en-US" sz="1150" dirty="0">
                <a:solidFill>
                  <a:srgbClr val="3A4A5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クリーンインストール、型検査、本番ビルドを</a:t>
            </a:r>
            <a:r>
              <a:rPr lang="en-US" sz="1150" dirty="0">
                <a:solidFill>
                  <a:srgbClr val="3A4A5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実施し 2 ページ生成を確認。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14363" y="2485188"/>
            <a:ext cx="22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85F82"/>
                </a:solidFill>
                <a:latin typeface="Noto Sans JP ExtraBold" pitchFamily="34" charset="0"/>
                <a:ea typeface="Noto Sans JP ExtraBold" pitchFamily="34" charset="-122"/>
                <a:cs typeface="Noto Sans JP ExtraBold" pitchFamily="34" charset="-120"/>
              </a:rPr>
              <a:t>2</a:t>
            </a:r>
            <a:endParaRPr lang="en-US" sz="700" dirty="0"/>
          </a:p>
        </p:txBody>
      </p:sp>
      <p:sp>
        <p:nvSpPr>
          <p:cNvPr id="8" name="Text 5"/>
          <p:cNvSpPr/>
          <p:nvPr/>
        </p:nvSpPr>
        <p:spPr>
          <a:xfrm>
            <a:off x="985838" y="2470900"/>
            <a:ext cx="3657600" cy="754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00" b="1" dirty="0">
                <a:solidFill>
                  <a:srgbClr val="3A4A5A"/>
                </a:solidFill>
                <a:latin typeface="Noto Sans JP Bold" pitchFamily="34" charset="0"/>
                <a:ea typeface="Noto Sans JP Bold" pitchFamily="34" charset="-122"/>
                <a:cs typeface="Noto Sans JP Bold" pitchFamily="34" charset="-120"/>
              </a:rPr>
              <a:t>Summary Cards の生成</a:t>
            </a:r>
            <a:r>
              <a:rPr lang="en-US" sz="1150" dirty="0">
                <a:solidFill>
                  <a:srgbClr val="3A4A5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
</a:t>
            </a:r>
            <a:r>
              <a:rPr lang="en-US" sz="1150" dirty="0">
                <a:solidFill>
                  <a:srgbClr val="3A4A5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ワークフローを再実行し、default テーマの</a:t>
            </a:r>
            <a:r>
              <a:rPr lang="en-US" sz="1150" dirty="0">
                <a:solidFill>
                  <a:srgbClr val="3A4A5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5枚が生成・配信されることを確認。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14363" y="3325192"/>
            <a:ext cx="22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85F82"/>
                </a:solidFill>
                <a:latin typeface="Noto Sans JP ExtraBold" pitchFamily="34" charset="0"/>
                <a:ea typeface="Noto Sans JP ExtraBold" pitchFamily="34" charset="-122"/>
                <a:cs typeface="Noto Sans JP ExtraBold" pitchFamily="34" charset="-120"/>
              </a:rPr>
              <a:t>3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985838" y="3310905"/>
            <a:ext cx="3657600" cy="754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00" b="1" dirty="0">
                <a:solidFill>
                  <a:srgbClr val="3A4A5A"/>
                </a:solidFill>
                <a:latin typeface="Noto Sans JP Bold" pitchFamily="34" charset="0"/>
                <a:ea typeface="Noto Sans JP Bold" pitchFamily="34" charset="-122"/>
                <a:cs typeface="Noto Sans JP Bold" pitchFamily="34" charset="-120"/>
              </a:rPr>
              <a:t>トークンとテーマの是正</a:t>
            </a:r>
            <a:r>
              <a:rPr lang="en-US" sz="1150" dirty="0">
                <a:solidFill>
                  <a:srgbClr val="3A4A5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
</a:t>
            </a:r>
            <a:r>
              <a:rPr lang="en-US" sz="1150" dirty="0">
                <a:solidFill>
                  <a:srgbClr val="3A4A5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SUMMARY_CARDS_TOKEN のスコープ不足と</a:t>
            </a:r>
            <a:r>
              <a:rPr lang="en-US" sz="1150" dirty="0">
                <a:solidFill>
                  <a:srgbClr val="3A4A5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THEME 未指定の全テーマ生成を是正。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14363" y="4165197"/>
            <a:ext cx="22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85F82"/>
                </a:solidFill>
                <a:latin typeface="Noto Sans JP ExtraBold" pitchFamily="34" charset="0"/>
                <a:ea typeface="Noto Sans JP ExtraBold" pitchFamily="34" charset="-122"/>
                <a:cs typeface="Noto Sans JP ExtraBold" pitchFamily="34" charset="-120"/>
              </a:rPr>
              <a:t>4</a:t>
            </a:r>
            <a:endParaRPr lang="en-US" sz="700" dirty="0"/>
          </a:p>
        </p:txBody>
      </p:sp>
      <p:sp>
        <p:nvSpPr>
          <p:cNvPr id="12" name="Text 9"/>
          <p:cNvSpPr/>
          <p:nvPr/>
        </p:nvSpPr>
        <p:spPr>
          <a:xfrm>
            <a:off x="985838" y="4150909"/>
            <a:ext cx="3657600" cy="754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00" b="1" dirty="0">
                <a:solidFill>
                  <a:srgbClr val="3A4A5A"/>
                </a:solidFill>
                <a:latin typeface="Noto Sans JP Bold" pitchFamily="34" charset="0"/>
                <a:ea typeface="Noto Sans JP Bold" pitchFamily="34" charset="-122"/>
                <a:cs typeface="Noto Sans JP Bold" pitchFamily="34" charset="-120"/>
              </a:rPr>
              <a:t>v0.3.0 デプロイの成功</a:t>
            </a:r>
            <a:r>
              <a:rPr lang="en-US" sz="1150" dirty="0">
                <a:solidFill>
                  <a:srgbClr val="3A4A5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
</a:t>
            </a:r>
            <a:r>
              <a:rPr lang="en-US" sz="1150" dirty="0">
                <a:solidFill>
                  <a:srgbClr val="3A4A5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すべての GitHub Pages デプロイが成功し、</a:t>
            </a:r>
            <a:r>
              <a:rPr lang="en-US" sz="1150" dirty="0">
                <a:solidFill>
                  <a:srgbClr val="3A4A5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v0.3.0 としてタグ・リリースを公開。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100638" y="1545171"/>
            <a:ext cx="3429000" cy="2571750"/>
          </a:xfrm>
          <a:prstGeom prst="rect">
            <a:avLst/>
          </a:prstGeom>
          <a:solidFill>
            <a:srgbClr val="FFFFFF"/>
          </a:solidFill>
          <a:ln w="18288">
            <a:solidFill>
              <a:srgbClr val="9BAEC0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4938" y="1659471"/>
            <a:ext cx="3200400" cy="23431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411755" y="1607344"/>
            <a:ext cx="2320491" cy="360759"/>
          </a:xfrm>
          <a:prstGeom prst="rect">
            <a:avLst/>
          </a:prstGeom>
          <a:solidFill>
            <a:srgbClr val="FFFFFF"/>
          </a:solidFill>
          <a:ln w="18288">
            <a:solidFill>
              <a:srgbClr val="9BAEC0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3411755" y="1607344"/>
            <a:ext cx="2320491" cy="360759"/>
          </a:xfrm>
          <a:prstGeom prst="rect">
            <a:avLst/>
          </a:prstGeom>
          <a:noFill/>
          <a:ln/>
        </p:spPr>
        <p:txBody>
          <a:bodyPr wrap="square" lIns="204089" tIns="102108" rIns="204089" bIns="102108" rtlCol="0" anchor="t">
            <a:spAutoFit/>
          </a:bodyPr>
          <a:lstStyle/>
          <a:p>
            <a:pPr algn="l" indent="0" marL="0">
              <a:buNone/>
            </a:pPr>
            <a:r>
              <a:rPr lang="en-US" sz="1000" b="1" spc="2" kern="0" dirty="0">
                <a:solidFill>
                  <a:srgbClr val="285F82"/>
                </a:solidFill>
                <a:latin typeface="Noto Sans JP ExtraBold" pitchFamily="34" charset="0"/>
                <a:ea typeface="Noto Sans JP ExtraBold" pitchFamily="34" charset="-122"/>
                <a:cs typeface="Noto Sans JP ExtraBold" pitchFamily="34" charset="-120"/>
              </a:rPr>
              <a:t>END OF PRESENTATION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2919003" y="2239566"/>
            <a:ext cx="3305938" cy="789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4950" b="1" spc="-1" kern="0" dirty="0">
                <a:solidFill>
                  <a:srgbClr val="2F3C4B"/>
                </a:solidFill>
                <a:latin typeface="Noto Sans JP ExtraBold" pitchFamily="34" charset="0"/>
                <a:ea typeface="Noto Sans JP ExtraBold" pitchFamily="34" charset="-122"/>
                <a:cs typeface="Noto Sans JP ExtraBold" pitchFamily="34" charset="-120"/>
              </a:rPr>
              <a:t>Thank you</a:t>
            </a:r>
            <a:endParaRPr lang="en-US" sz="4950" dirty="0"/>
          </a:p>
        </p:txBody>
      </p:sp>
      <p:sp>
        <p:nvSpPr>
          <p:cNvPr id="6" name="Text 3"/>
          <p:cNvSpPr/>
          <p:nvPr/>
        </p:nvSpPr>
        <p:spPr>
          <a:xfrm>
            <a:off x="2347280" y="3257550"/>
            <a:ext cx="4449384" cy="2643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700" spc="1" kern="0" dirty="0">
                <a:solidFill>
                  <a:srgbClr val="50627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v0.3.0 — profile stats, neo-brutalism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2026-08-22T02:41:05Z</dcterms:created>
  <dcterms:modified xsi:type="dcterms:W3CDTF">2026-08-22T02:41:05Z</dcterms:modified>
</cp:coreProperties>
</file>